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op_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8142F"/>
          </a:solidFill>
          <a:ln>
            <a:solidFill>
              <a:srgbClr val="081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420624" cy="42062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BV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5661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BOOKVERSE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353312"/>
            <a:ext cx="2286000" cy="32918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ĐỒ ÁN THIẾT KẾ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5669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Aptos Display"/>
              </a:rPr>
              <a:t>BOOKVERSE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578608"/>
            <a:ext cx="5212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E9E7FF"/>
                </a:solidFill>
                <a:latin typeface="Aptos"/>
              </a:rPr>
              <a:t>Website bán sách trực tuyến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45536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9E0B"/>
                </a:solidFill>
                <a:latin typeface="Aptos"/>
              </a:rPr>
              <a:t>Mở trang sách, mở thế giới.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70332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AD5EA"/>
                </a:solidFill>
                <a:latin typeface="Aptos"/>
              </a:rPr>
              <a:t>HTML5  •  CSS3  •  JavaScript ES6+  •  localStorage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90872"/>
            <a:ext cx="5029200" cy="1005840"/>
          </a:xfrm>
          <a:prstGeom prst="roundRect">
            <a:avLst/>
          </a:prstGeom>
          <a:solidFill>
            <a:srgbClr val="111C44"/>
          </a:solidFill>
          <a:ln>
            <a:solidFill>
              <a:srgbClr val="344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91947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B5CF6"/>
                </a:solidFill>
                <a:latin typeface="Aptos"/>
              </a:rPr>
              <a:t>NHÓM THỰC HIỆN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520293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[Họ tên thành viên]  •  [MSSV]  •  [Lớp]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32764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1280160"/>
            <a:ext cx="3840480" cy="384048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663440"/>
            <a:ext cx="3474720" cy="34747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420624" cy="42062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BV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5661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BOOKVERSE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3268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B5CF6"/>
                </a:solidFill>
                <a:latin typeface="Aptos"/>
              </a:rPr>
              <a:t>01 — BÀI TOÁN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 Display"/>
              </a:rPr>
              <a:t>Từ nhu cầu mua sách đến một hệ thống hoàn chỉnh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8C2D9"/>
                </a:solidFill>
                <a:latin typeface="Aptos"/>
              </a:rPr>
              <a:t>Không chỉ dựng giao diện: BOOKVERSE mô phỏng xuyên suốt quy trình bán và quản lý sách.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14600"/>
            <a:ext cx="3493008" cy="2423160"/>
          </a:xfrm>
          <a:prstGeom prst="roundRect">
            <a:avLst/>
          </a:prstGeom>
          <a:solidFill>
            <a:srgbClr val="111C44"/>
          </a:solidFill>
          <a:ln>
            <a:solidFill>
              <a:srgbClr val="27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2697480"/>
            <a:ext cx="475488" cy="109728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953512"/>
            <a:ext cx="31272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Khách hàng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383280"/>
            <a:ext cx="3127248" cy="1435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7D2E8"/>
                </a:solidFill>
                <a:latin typeface="Aptos"/>
              </a:rPr>
              <a:t>Tìm đúng sách nhanh, xem đủ thông tin, mua hàng thuận tiện và theo dõi được lịch sử đơn.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514600"/>
            <a:ext cx="3493008" cy="2423160"/>
          </a:xfrm>
          <a:prstGeom prst="roundRect">
            <a:avLst/>
          </a:prstGeom>
          <a:solidFill>
            <a:srgbClr val="111C44"/>
          </a:solidFill>
          <a:ln>
            <a:solidFill>
              <a:srgbClr val="27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80" y="2697480"/>
            <a:ext cx="475488" cy="10972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953512"/>
            <a:ext cx="31272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Cửa hàng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383280"/>
            <a:ext cx="3127248" cy="1435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7D2E8"/>
                </a:solidFill>
                <a:latin typeface="Aptos"/>
              </a:rPr>
              <a:t>Quản lý tập trung sản phẩm, danh mục, đơn hàng, khách hàng, khuyến mãi và báo cáo.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2514600"/>
            <a:ext cx="3493008" cy="2423160"/>
          </a:xfrm>
          <a:prstGeom prst="roundRect">
            <a:avLst/>
          </a:prstGeom>
          <a:solidFill>
            <a:srgbClr val="111C44"/>
          </a:solidFill>
          <a:ln>
            <a:solidFill>
              <a:srgbClr val="27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02752" y="2697480"/>
            <a:ext cx="475488" cy="10972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953512"/>
            <a:ext cx="31272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Bài toán kỹ thuật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383280"/>
            <a:ext cx="3127248" cy="1435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7D2E8"/>
                </a:solidFill>
                <a:latin typeface="Aptos"/>
              </a:rPr>
              <a:t>Dữ liệu phải đồng bộ giữa hai giao diện, tồn tại sau khi tải lại và tuân thủ quy tắc nghiệp vụ.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83664" y="5303520"/>
            <a:ext cx="8412480" cy="640080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57400" y="546811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MỤC TIÊU  →  Một bản demo front-end chạy thật, kiểm thử được và dễ giải thích.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C2D9"/>
                </a:solidFill>
                <a:latin typeface="Aptos"/>
              </a:rPr>
              <a:t>BOOKVERSE  •  ĐỒ ÁN THIẾT KẾ WEBSITE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C2D9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1280160"/>
            <a:ext cx="3840480" cy="384048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663440"/>
            <a:ext cx="3474720" cy="34747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420624" cy="42062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BV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5661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42F"/>
                </a:solidFill>
                <a:latin typeface="Aptos"/>
              </a:rPr>
              <a:t>BOOKVERSE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3268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28D9"/>
                </a:solidFill>
                <a:latin typeface="Aptos"/>
              </a:rPr>
              <a:t>02 — PHẠM 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ptos Display"/>
              </a:rPr>
              <a:t>Hai vai trò — một nguồn dữ liệu thống nhất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Mọi thao tác quan trọng đều có phản hồi và thay đổi dữ liệu thực tế.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04872"/>
            <a:ext cx="5029200" cy="3310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6" y="2670048"/>
            <a:ext cx="1298448" cy="32918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70048"/>
            <a:ext cx="12984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KHÁCH HÀNG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191256"/>
            <a:ext cx="4434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6D28D9"/>
                </a:solidFill>
                <a:latin typeface="Aptos"/>
              </a:rPr>
              <a:t>●  </a:t>
            </a:r>
            <a:r>
              <a:rPr sz="1500">
                <a:solidFill>
                  <a:srgbClr val="111827"/>
                </a:solidFill>
                <a:latin typeface="Aptos"/>
              </a:rPr>
              <a:t>Đăng ký, đăng nhập, chỉnh sửa tài khoản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6D28D9"/>
                </a:solidFill>
                <a:latin typeface="Aptos"/>
              </a:rPr>
              <a:t>●  </a:t>
            </a:r>
            <a:r>
              <a:rPr sz="1500">
                <a:solidFill>
                  <a:srgbClr val="111827"/>
                </a:solidFill>
                <a:latin typeface="Aptos"/>
              </a:rPr>
              <a:t>Tìm kiếm, lọc, sắp xếp và xem chi tiết sách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6D28D9"/>
                </a:solidFill>
                <a:latin typeface="Aptos"/>
              </a:rPr>
              <a:t>●  </a:t>
            </a:r>
            <a:r>
              <a:rPr sz="1500">
                <a:solidFill>
                  <a:srgbClr val="111827"/>
                </a:solidFill>
                <a:latin typeface="Aptos"/>
              </a:rPr>
              <a:t>Yêu thích, bình luận, giỏ hàng và mã giảm giá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6D28D9"/>
                </a:solidFill>
                <a:latin typeface="Aptos"/>
              </a:rPr>
              <a:t>●  </a:t>
            </a:r>
            <a:r>
              <a:rPr sz="1500">
                <a:solidFill>
                  <a:srgbClr val="111827"/>
                </a:solidFill>
                <a:latin typeface="Aptos"/>
              </a:rPr>
              <a:t>Checkout, tạo đơn và xem lịch sử mua hàng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6D28D9"/>
                </a:solidFill>
                <a:latin typeface="Aptos"/>
              </a:rPr>
              <a:t>●  </a:t>
            </a:r>
            <a:r>
              <a:rPr sz="1500">
                <a:solidFill>
                  <a:srgbClr val="111827"/>
                </a:solidFill>
                <a:latin typeface="Aptos"/>
              </a:rPr>
              <a:t>Đăng ký nhận tin và chuyển đổi sáng/tối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2404872"/>
            <a:ext cx="5029200" cy="3310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39712" y="2670048"/>
            <a:ext cx="1572768" cy="329184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2670048"/>
            <a:ext cx="15727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142F"/>
                </a:solidFill>
                <a:latin typeface="Aptos"/>
              </a:rPr>
              <a:t>QUẢN TRỊ VIÊN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856" y="3191256"/>
            <a:ext cx="4434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F59E0B"/>
                </a:solidFill>
                <a:latin typeface="Aptos"/>
              </a:rPr>
              <a:t>●  </a:t>
            </a:r>
            <a:r>
              <a:rPr sz="1500">
                <a:solidFill>
                  <a:srgbClr val="111827"/>
                </a:solidFill>
                <a:latin typeface="Aptos"/>
              </a:rPr>
              <a:t>Dashboard lấy số liệu trực tiếp từ đơn hàng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F59E0B"/>
                </a:solidFill>
                <a:latin typeface="Aptos"/>
              </a:rPr>
              <a:t>●  </a:t>
            </a:r>
            <a:r>
              <a:rPr sz="1500">
                <a:solidFill>
                  <a:srgbClr val="111827"/>
                </a:solidFill>
                <a:latin typeface="Aptos"/>
              </a:rPr>
              <a:t>CRUD sách, danh mục và khuyến mãi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F59E0B"/>
                </a:solidFill>
                <a:latin typeface="Aptos"/>
              </a:rPr>
              <a:t>●  </a:t>
            </a:r>
            <a:r>
              <a:rPr sz="1500">
                <a:solidFill>
                  <a:srgbClr val="111827"/>
                </a:solidFill>
                <a:latin typeface="Aptos"/>
              </a:rPr>
              <a:t>Cập nhật đơn theo state machine hợp lệ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F59E0B"/>
                </a:solidFill>
                <a:latin typeface="Aptos"/>
              </a:rPr>
              <a:t>●  </a:t>
            </a:r>
            <a:r>
              <a:rPr sz="1500">
                <a:solidFill>
                  <a:srgbClr val="111827"/>
                </a:solidFill>
                <a:latin typeface="Aptos"/>
              </a:rPr>
              <a:t>Tra cứu khách hàng và người đăng ký nhận tin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F59E0B"/>
                </a:solidFill>
                <a:latin typeface="Aptos"/>
              </a:rPr>
              <a:t>●  </a:t>
            </a:r>
            <a:r>
              <a:rPr sz="1500">
                <a:solidFill>
                  <a:srgbClr val="111827"/>
                </a:solidFill>
                <a:latin typeface="Aptos"/>
              </a:rPr>
              <a:t>Báo cáo theo thời gian và xuất tệp CSV</a:t>
            </a:r>
          </a:p>
        </p:txBody>
      </p:sp>
      <p:sp>
        <p:nvSpPr>
          <p:cNvPr id="18" name="Oval 17"/>
          <p:cNvSpPr/>
          <p:nvPr/>
        </p:nvSpPr>
        <p:spPr>
          <a:xfrm>
            <a:off x="5550408" y="3493008"/>
            <a:ext cx="1078992" cy="1078992"/>
          </a:xfrm>
          <a:prstGeom prst="ellipse">
            <a:avLst/>
          </a:prstGeom>
          <a:solidFill>
            <a:srgbClr val="08142F"/>
          </a:solidFill>
          <a:ln>
            <a:solidFill>
              <a:srgbClr val="081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50408" y="3493008"/>
            <a:ext cx="1078992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4748B"/>
                </a:solidFill>
                <a:latin typeface="Aptos"/>
              </a:rPr>
              <a:t>BOOKVERSE  •  ĐỒ ÁN THIẾT KẾ 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1280160"/>
            <a:ext cx="3840480" cy="384048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663440"/>
            <a:ext cx="3474720" cy="34747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420624" cy="42062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BV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5661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BOOKVERSE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3268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B5CF6"/>
                </a:solidFill>
                <a:latin typeface="Aptos"/>
              </a:rPr>
              <a:t>03 — CÔNG NGHỆ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 Display"/>
              </a:rPr>
              <a:t>Làm chủ nền tảng web thay vì phụ thuộc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8C2D9"/>
                </a:solidFill>
                <a:latin typeface="Aptos"/>
              </a:rPr>
              <a:t>Mỗi công nghệ được chọn đúng vai trò trong phạm vi đồ án front-end thuần.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2487168" cy="1920240"/>
          </a:xfrm>
          <a:prstGeom prst="roundRect">
            <a:avLst/>
          </a:prstGeom>
          <a:solidFill>
            <a:srgbClr val="111C44"/>
          </a:solidFill>
          <a:ln>
            <a:solidFill>
              <a:srgbClr val="2A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1" y="2715768"/>
            <a:ext cx="530352" cy="53035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715768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40156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HTML5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785615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AC6DD"/>
                </a:solidFill>
                <a:latin typeface="Aptos"/>
              </a:rPr>
              <a:t>Semantic &amp; Accessibility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2514600"/>
            <a:ext cx="2487168" cy="1920240"/>
          </a:xfrm>
          <a:prstGeom prst="roundRect">
            <a:avLst/>
          </a:prstGeom>
          <a:solidFill>
            <a:srgbClr val="111C44"/>
          </a:solidFill>
          <a:ln>
            <a:solidFill>
              <a:srgbClr val="2A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2715768"/>
            <a:ext cx="530352" cy="530352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715768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340156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CSS3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3785615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AC6DD"/>
                </a:solidFill>
                <a:latin typeface="Aptos"/>
              </a:rPr>
              <a:t>Variables • Grid • Flexbox • 3D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5936" y="2514600"/>
            <a:ext cx="2487168" cy="1920240"/>
          </a:xfrm>
          <a:prstGeom prst="roundRect">
            <a:avLst/>
          </a:prstGeom>
          <a:solidFill>
            <a:srgbClr val="111C44"/>
          </a:solidFill>
          <a:ln>
            <a:solidFill>
              <a:srgbClr val="2A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0528" y="2715768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2715768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42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340156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JavaScript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3785615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AC6DD"/>
                </a:solidFill>
                <a:latin typeface="Aptos"/>
              </a:rPr>
              <a:t>ES6+ • DOM •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98863" y="2514600"/>
            <a:ext cx="2487168" cy="1920240"/>
          </a:xfrm>
          <a:prstGeom prst="roundRect">
            <a:avLst/>
          </a:prstGeom>
          <a:solidFill>
            <a:srgbClr val="111C44"/>
          </a:solidFill>
          <a:ln>
            <a:solidFill>
              <a:srgbClr val="2A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63455" y="2715768"/>
            <a:ext cx="530352" cy="530352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3455" y="2715768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3" y="340156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localStorage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1743" y="3785615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AC6DD"/>
                </a:solidFill>
                <a:latin typeface="Aptos"/>
              </a:rPr>
              <a:t>Persistent demo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" y="4892040"/>
            <a:ext cx="1008583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16736" y="5111496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CEE1"/>
                </a:solidFill>
                <a:latin typeface="Aptos"/>
              </a:rPr>
              <a:t>Bổ trợ giao diện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5074920"/>
            <a:ext cx="1234440" cy="329184"/>
          </a:xfrm>
          <a:prstGeom prst="roundRect">
            <a:avLst/>
          </a:prstGeom>
          <a:solidFill>
            <a:srgbClr val="29365E"/>
          </a:solidFill>
          <a:ln>
            <a:solidFill>
              <a:srgbClr val="29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5074920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AF0FB"/>
                </a:solidFill>
                <a:latin typeface="Aptos"/>
              </a:rPr>
              <a:t>Animate.css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5384" y="5074920"/>
            <a:ext cx="676656" cy="329184"/>
          </a:xfrm>
          <a:prstGeom prst="roundRect">
            <a:avLst/>
          </a:prstGeom>
          <a:solidFill>
            <a:srgbClr val="29365E"/>
          </a:solidFill>
          <a:ln>
            <a:solidFill>
              <a:srgbClr val="29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15384" y="5074920"/>
            <a:ext cx="6766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AF0FB"/>
                </a:solidFill>
                <a:latin typeface="Aptos"/>
              </a:rPr>
              <a:t>AOS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47488" y="5074920"/>
            <a:ext cx="1353312" cy="329184"/>
          </a:xfrm>
          <a:prstGeom prst="roundRect">
            <a:avLst/>
          </a:prstGeom>
          <a:solidFill>
            <a:srgbClr val="29365E"/>
          </a:solidFill>
          <a:ln>
            <a:solidFill>
              <a:srgbClr val="29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7488" y="5074920"/>
            <a:ext cx="13533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AF0FB"/>
                </a:solidFill>
                <a:latin typeface="Aptos"/>
              </a:rPr>
              <a:t>Font Awesome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56248" y="5074920"/>
            <a:ext cx="1261872" cy="329184"/>
          </a:xfrm>
          <a:prstGeom prst="roundRect">
            <a:avLst/>
          </a:prstGeom>
          <a:solidFill>
            <a:srgbClr val="29365E"/>
          </a:solidFill>
          <a:ln>
            <a:solidFill>
              <a:srgbClr val="29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5074920"/>
            <a:ext cx="12618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AF0FB"/>
                </a:solidFill>
                <a:latin typeface="Aptos"/>
              </a:rPr>
              <a:t>Google Fonts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48472" y="5074920"/>
            <a:ext cx="1481328" cy="329184"/>
          </a:xfrm>
          <a:prstGeom prst="roundRect">
            <a:avLst/>
          </a:prstGeom>
          <a:solidFill>
            <a:srgbClr val="29365E"/>
          </a:solidFill>
          <a:ln>
            <a:solidFill>
              <a:srgbClr val="29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48472" y="5074920"/>
            <a:ext cx="14813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AF0FB"/>
                </a:solidFill>
                <a:latin typeface="Aptos"/>
              </a:rPr>
              <a:t>Không Bootstrap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C2D9"/>
                </a:solidFill>
                <a:latin typeface="Aptos"/>
              </a:rPr>
              <a:t>BOOKVERSE  •  ĐỒ ÁN THIẾT KẾ WEBSITE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C2D9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1280160"/>
            <a:ext cx="3840480" cy="384048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663440"/>
            <a:ext cx="3474720" cy="34747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420624" cy="42062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BV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5661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42F"/>
                </a:solidFill>
                <a:latin typeface="Aptos"/>
              </a:rPr>
              <a:t>BOOKVERSE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3268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28D9"/>
                </a:solidFill>
                <a:latin typeface="Aptos"/>
              </a:rPr>
              <a:t>04 — KIẾN TRÚC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ptos Display"/>
              </a:rPr>
              <a:t>Luồng dữ liệu rõ ràng, dễ truy vết và bảo trì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Giao diện chỉ render dữ liệu; quy tắc nghiệp vụ nằm trong module JavaScript.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651760"/>
            <a:ext cx="2432304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59" y="2852928"/>
            <a:ext cx="2103120" cy="32918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85292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529584"/>
            <a:ext cx="19659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tos"/>
              </a:rPr>
              <a:t>HTML semantic</a:t>
            </a:r>
            <a:br/>
            <a:r>
              <a:rPr sz="1500" b="1">
                <a:solidFill>
                  <a:srgbClr val="111827"/>
                </a:solidFill>
                <a:latin typeface="Aptos"/>
              </a:rPr>
              <a:t>Trang khách + Admin</a:t>
            </a:r>
          </a:p>
        </p:txBody>
      </p:sp>
      <p:sp>
        <p:nvSpPr>
          <p:cNvPr id="14" name="Chevron 13"/>
          <p:cNvSpPr/>
          <p:nvPr/>
        </p:nvSpPr>
        <p:spPr>
          <a:xfrm>
            <a:off x="3145536" y="3611880"/>
            <a:ext cx="310896" cy="310896"/>
          </a:xfrm>
          <a:prstGeom prst="chevron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20439" y="2651760"/>
            <a:ext cx="2432304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5031" y="2852928"/>
            <a:ext cx="2103120" cy="329184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1" y="285292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UI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529584"/>
            <a:ext cx="19659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tos"/>
              </a:rPr>
              <a:t>DOM events</a:t>
            </a:r>
            <a:br/>
            <a:r>
              <a:rPr sz="1500" b="1">
                <a:solidFill>
                  <a:srgbClr val="111827"/>
                </a:solidFill>
                <a:latin typeface="Aptos"/>
              </a:rPr>
              <a:t>Render • Toast • Modal</a:t>
            </a:r>
          </a:p>
        </p:txBody>
      </p:sp>
      <p:sp>
        <p:nvSpPr>
          <p:cNvPr id="19" name="Chevron 18"/>
          <p:cNvSpPr/>
          <p:nvPr/>
        </p:nvSpPr>
        <p:spPr>
          <a:xfrm>
            <a:off x="6007608" y="3611880"/>
            <a:ext cx="310896" cy="310896"/>
          </a:xfrm>
          <a:prstGeom prst="chevron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2512" y="2651760"/>
            <a:ext cx="2432304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47103" y="2852928"/>
            <a:ext cx="2103120" cy="329184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3" y="285292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142F"/>
                </a:solidFill>
                <a:latin typeface="Aptos"/>
              </a:rPr>
              <a:t>BUSINESS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3529584"/>
            <a:ext cx="19659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tos"/>
              </a:rPr>
              <a:t>Cart • Auth • Checkout</a:t>
            </a:r>
            <a:br/>
            <a:r>
              <a:rPr sz="1500" b="1">
                <a:solidFill>
                  <a:srgbClr val="111827"/>
                </a:solidFill>
                <a:latin typeface="Aptos"/>
              </a:rPr>
              <a:t>Filter • Order states</a:t>
            </a:r>
          </a:p>
        </p:txBody>
      </p:sp>
      <p:sp>
        <p:nvSpPr>
          <p:cNvPr id="24" name="Chevron 23"/>
          <p:cNvSpPr/>
          <p:nvPr/>
        </p:nvSpPr>
        <p:spPr>
          <a:xfrm>
            <a:off x="8869680" y="3611880"/>
            <a:ext cx="310896" cy="310896"/>
          </a:xfrm>
          <a:prstGeom prst="chevron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44584" y="2651760"/>
            <a:ext cx="2432304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09176" y="2852928"/>
            <a:ext cx="2103120" cy="329184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9176" y="285292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DATA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184" y="3529584"/>
            <a:ext cx="19659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tos"/>
              </a:rPr>
              <a:t>storage.js</a:t>
            </a:r>
            <a:br/>
            <a:r>
              <a:rPr sz="1500" b="1">
                <a:solidFill>
                  <a:srgbClr val="111827"/>
                </a:solidFill>
                <a:latin typeface="Aptos"/>
              </a:rPr>
              <a:t>localStorage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5257800"/>
            <a:ext cx="8549640" cy="603504"/>
          </a:xfrm>
          <a:prstGeom prst="roundRect">
            <a:avLst/>
          </a:prstGeom>
          <a:solidFill>
            <a:srgbClr val="08142F"/>
          </a:solidFill>
          <a:ln>
            <a:solidFill>
              <a:srgbClr val="081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9968" y="5431536"/>
            <a:ext cx="8138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Admin cập nhật  →  localStorage thay đổi  →  Trang bán hàng render dữ liệu mới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4748B"/>
                </a:solidFill>
                <a:latin typeface="Aptos"/>
              </a:rPr>
              <a:t>BOOKVERSE  •  ĐỒ ÁN THIẾT KẾ WEBSITE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1280160"/>
            <a:ext cx="3840480" cy="384048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663440"/>
            <a:ext cx="3474720" cy="34747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420624" cy="42062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BV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5661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BOOKVERSE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3268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B5CF6"/>
                </a:solidFill>
                <a:latin typeface="Aptos"/>
              </a:rPr>
              <a:t>05 — TỔ CHỨC MÃ NGUỒN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 Display"/>
              </a:rPr>
              <a:t>Mỗi module chỉ chịu một nhóm trách nhiệm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8C2D9"/>
                </a:solidFill>
                <a:latin typeface="Aptos"/>
              </a:rPr>
              <a:t>Cách chia này giúp tìm lỗi nhanh và tránh logic chồng chéo.</a:t>
            </a:r>
          </a:p>
        </p:txBody>
      </p:sp>
      <p:sp>
        <p:nvSpPr>
          <p:cNvPr id="10" name="Oval 9"/>
          <p:cNvSpPr/>
          <p:nvPr/>
        </p:nvSpPr>
        <p:spPr>
          <a:xfrm>
            <a:off x="4901184" y="2560320"/>
            <a:ext cx="2377440" cy="237744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1184" y="29718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storage.js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3520440"/>
            <a:ext cx="18470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8DFFF"/>
                </a:solidFill>
                <a:latin typeface="Aptos"/>
              </a:rPr>
              <a:t>Khởi tạo • đọc • ghi</a:t>
            </a:r>
            <a:br/>
            <a:r>
              <a:rPr sz="1200" b="0">
                <a:solidFill>
                  <a:srgbClr val="E8DFFF"/>
                </a:solidFill>
                <a:latin typeface="Aptos"/>
              </a:rPr>
              <a:t>nguồn dữ liệu dùng chung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2606040" cy="1078992"/>
          </a:xfrm>
          <a:prstGeom prst="roundRect">
            <a:avLst/>
          </a:prstGeom>
          <a:solidFill>
            <a:srgbClr val="111C44"/>
          </a:solidFill>
          <a:ln>
            <a:solidFill>
              <a:srgbClr val="2C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" y="2670048"/>
            <a:ext cx="100584" cy="71323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265176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main.js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3044952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AC7DE"/>
                </a:solidFill>
                <a:latin typeface="Aptos"/>
              </a:rPr>
              <a:t>Header • theme •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2606040" cy="1078992"/>
          </a:xfrm>
          <a:prstGeom prst="roundRect">
            <a:avLst/>
          </a:prstGeom>
          <a:solidFill>
            <a:srgbClr val="111C44"/>
          </a:solidFill>
          <a:ln>
            <a:solidFill>
              <a:srgbClr val="2C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4343400"/>
            <a:ext cx="100584" cy="71323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4325112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books.js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4718304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AC7DE"/>
                </a:solidFill>
                <a:latin typeface="Aptos"/>
              </a:rPr>
              <a:t>Search • filter • sort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2487168"/>
            <a:ext cx="2606040" cy="1078992"/>
          </a:xfrm>
          <a:prstGeom prst="roundRect">
            <a:avLst/>
          </a:prstGeom>
          <a:solidFill>
            <a:srgbClr val="111C44"/>
          </a:solidFill>
          <a:ln>
            <a:solidFill>
              <a:srgbClr val="2C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2670048"/>
            <a:ext cx="100584" cy="71323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0304" y="265176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cart.js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044952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AC7DE"/>
                </a:solidFill>
                <a:latin typeface="Aptos"/>
              </a:rPr>
              <a:t>Quantity • totals • promo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06256" y="4160520"/>
            <a:ext cx="2606040" cy="1078992"/>
          </a:xfrm>
          <a:prstGeom prst="roundRect">
            <a:avLst/>
          </a:prstGeom>
          <a:solidFill>
            <a:srgbClr val="111C44"/>
          </a:solidFill>
          <a:ln>
            <a:solidFill>
              <a:srgbClr val="2C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52560" y="4343400"/>
            <a:ext cx="100584" cy="71323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0304" y="4325112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checkout.js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4718304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AC7DE"/>
                </a:solidFill>
                <a:latin typeface="Aptos"/>
              </a:rPr>
              <a:t>Validation • create order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53512" y="5257800"/>
            <a:ext cx="2606040" cy="1078992"/>
          </a:xfrm>
          <a:prstGeom prst="roundRect">
            <a:avLst/>
          </a:prstGeom>
          <a:solidFill>
            <a:srgbClr val="111C44"/>
          </a:solidFill>
          <a:ln>
            <a:solidFill>
              <a:srgbClr val="2C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099816" y="5440680"/>
            <a:ext cx="100584" cy="71323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5422392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auth.js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5815584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AC7DE"/>
                </a:solidFill>
                <a:latin typeface="Aptos"/>
              </a:rPr>
              <a:t>Session • role • account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5257800"/>
            <a:ext cx="2606040" cy="1078992"/>
          </a:xfrm>
          <a:prstGeom prst="roundRect">
            <a:avLst/>
          </a:prstGeom>
          <a:solidFill>
            <a:srgbClr val="111C44"/>
          </a:solidFill>
          <a:ln>
            <a:solidFill>
              <a:srgbClr val="2C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04304" y="5440680"/>
            <a:ext cx="100584" cy="71323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42048" y="5422392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admin.js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42048" y="5815584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AC7DE"/>
                </a:solidFill>
                <a:latin typeface="Aptos"/>
              </a:rPr>
              <a:t>CRUD • reports • states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C2D9"/>
                </a:solidFill>
                <a:latin typeface="Aptos"/>
              </a:rPr>
              <a:t>BOOKVERSE  •  ĐỒ ÁN THIẾT KẾ WEBSITE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C2D9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1280160"/>
            <a:ext cx="3840480" cy="384048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663440"/>
            <a:ext cx="3474720" cy="34747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420624" cy="42062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BV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5661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42F"/>
                </a:solidFill>
                <a:latin typeface="Aptos"/>
              </a:rPr>
              <a:t>BOOKVERSE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3268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28D9"/>
                </a:solidFill>
                <a:latin typeface="Aptos"/>
              </a:rPr>
              <a:t>06 —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ptos Display"/>
              </a:rPr>
              <a:t>localStorage đóng vai trò cơ sở dữ liệu mô phỏng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Dữ liệu mặc định chỉ được tạo khi chưa tồn tại — không ghi đè thay đổi của người dùng.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468880"/>
            <a:ext cx="3456432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2724912"/>
            <a:ext cx="1572768" cy="32918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724912"/>
            <a:ext cx="15727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DANH MỤC LÕI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" y="3337560"/>
            <a:ext cx="3017520" cy="347472"/>
          </a:xfrm>
          <a:prstGeom prst="roundRect">
            <a:avLst/>
          </a:prstGeom>
          <a:solidFill>
            <a:srgbClr val="F5F7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410712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onsolas"/>
              </a:rPr>
              <a:t>bv_books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" y="3803904"/>
            <a:ext cx="3017520" cy="347472"/>
          </a:xfrm>
          <a:prstGeom prst="roundRect">
            <a:avLst/>
          </a:prstGeom>
          <a:solidFill>
            <a:srgbClr val="F5F7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877056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onsolas"/>
              </a:rPr>
              <a:t>bv_categories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" y="4270248"/>
            <a:ext cx="3017520" cy="347472"/>
          </a:xfrm>
          <a:prstGeom prst="roundRect">
            <a:avLst/>
          </a:prstGeom>
          <a:solidFill>
            <a:srgbClr val="F5F7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4343400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onsolas"/>
              </a:rPr>
              <a:t>bv_promotions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" y="4736592"/>
            <a:ext cx="3017520" cy="347472"/>
          </a:xfrm>
          <a:prstGeom prst="roundRect">
            <a:avLst/>
          </a:prstGeom>
          <a:solidFill>
            <a:srgbClr val="F5F7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809744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onsolas"/>
              </a:rPr>
              <a:t>bv_settings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2468880"/>
            <a:ext cx="3456432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81728" y="2724912"/>
            <a:ext cx="1572768" cy="329184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2724912"/>
            <a:ext cx="15727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NGƯỜI DÙNG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72584" y="3337560"/>
            <a:ext cx="3017520" cy="347472"/>
          </a:xfrm>
          <a:prstGeom prst="roundRect">
            <a:avLst/>
          </a:prstGeom>
          <a:solidFill>
            <a:srgbClr val="F5F7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3410712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onsolas"/>
              </a:rPr>
              <a:t>bv_users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72584" y="3803904"/>
            <a:ext cx="3017520" cy="347472"/>
          </a:xfrm>
          <a:prstGeom prst="roundRect">
            <a:avLst/>
          </a:prstGeom>
          <a:solidFill>
            <a:srgbClr val="F5F7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3877056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onsolas"/>
              </a:rPr>
              <a:t>bv_session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72584" y="4270248"/>
            <a:ext cx="3017520" cy="347472"/>
          </a:xfrm>
          <a:prstGeom prst="roundRect">
            <a:avLst/>
          </a:prstGeom>
          <a:solidFill>
            <a:srgbClr val="F5F7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8888" y="4343400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onsolas"/>
              </a:rPr>
              <a:t>bv_wishlist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72584" y="4736592"/>
            <a:ext cx="3017520" cy="347472"/>
          </a:xfrm>
          <a:prstGeom prst="roundRect">
            <a:avLst/>
          </a:prstGeom>
          <a:solidFill>
            <a:srgbClr val="F5F7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18888" y="4809744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onsolas"/>
              </a:rPr>
              <a:t>bv_book_comments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02752" y="2468880"/>
            <a:ext cx="3456432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22208" y="2724912"/>
            <a:ext cx="1572768" cy="329184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22208" y="2724912"/>
            <a:ext cx="15727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8142F"/>
                </a:solidFill>
                <a:latin typeface="Aptos"/>
              </a:rPr>
              <a:t>GIAO DỊCH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13064" y="3337560"/>
            <a:ext cx="3017520" cy="347472"/>
          </a:xfrm>
          <a:prstGeom prst="roundRect">
            <a:avLst/>
          </a:prstGeom>
          <a:solidFill>
            <a:srgbClr val="F5F7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59368" y="3410712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onsolas"/>
              </a:rPr>
              <a:t>bv_cart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13064" y="3803904"/>
            <a:ext cx="3017520" cy="347472"/>
          </a:xfrm>
          <a:prstGeom prst="roundRect">
            <a:avLst/>
          </a:prstGeom>
          <a:solidFill>
            <a:srgbClr val="F5F7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59368" y="3877056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onsolas"/>
              </a:rPr>
              <a:t>bv_coupon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13064" y="4270248"/>
            <a:ext cx="3017520" cy="347472"/>
          </a:xfrm>
          <a:prstGeom prst="roundRect">
            <a:avLst/>
          </a:prstGeom>
          <a:solidFill>
            <a:srgbClr val="F5F7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59368" y="4343400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onsolas"/>
              </a:rPr>
              <a:t>bv_orders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13064" y="4736592"/>
            <a:ext cx="3017520" cy="347472"/>
          </a:xfrm>
          <a:prstGeom prst="roundRect">
            <a:avLst/>
          </a:prstGeom>
          <a:solidFill>
            <a:srgbClr val="F5F7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59368" y="4809744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onsolas"/>
              </a:rPr>
              <a:t>bv_newsletter_subscribers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34640" y="5696712"/>
            <a:ext cx="6492240" cy="420624"/>
          </a:xfrm>
          <a:prstGeom prst="roundRect">
            <a:avLst/>
          </a:prstGeom>
          <a:solidFill>
            <a:srgbClr val="08142F"/>
          </a:solidFill>
          <a:ln>
            <a:solidFill>
              <a:srgbClr val="081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44368" y="5806440"/>
            <a:ext cx="6272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try/catch khi đọc dữ liệu  •  fallback an toàn  •  reset có kiểm soát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4748B"/>
                </a:solidFill>
                <a:latin typeface="Aptos"/>
              </a:rPr>
              <a:t>BOOKVERSE  •  ĐỒ ÁN THIẾT KẾ WEBSITE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1280160"/>
            <a:ext cx="3840480" cy="384048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663440"/>
            <a:ext cx="3474720" cy="34747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420624" cy="42062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BV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5661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BOOKVERSE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3268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B5CF6"/>
                </a:solidFill>
                <a:latin typeface="Aptos"/>
              </a:rPr>
              <a:t>07 — LOGIC KHÓ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 Display"/>
              </a:rPr>
              <a:t>Ba lớp bảo vệ tính đúng đắn của nghiệp vụ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8C2D9"/>
                </a:solidFill>
                <a:latin typeface="Aptos"/>
              </a:rPr>
              <a:t>Không cho phép thao tác làm sai tồn kho, khuyến mãi hoặc vòng đời đơn hàng.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2468880"/>
            <a:ext cx="3529584" cy="3154680"/>
          </a:xfrm>
          <a:prstGeom prst="roundRect">
            <a:avLst/>
          </a:prstGeom>
          <a:solidFill>
            <a:srgbClr val="111C44"/>
          </a:solidFill>
          <a:ln>
            <a:solidFill>
              <a:srgbClr val="27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651760"/>
            <a:ext cx="475488" cy="109728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907792"/>
            <a:ext cx="31638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01  Tồn kho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337560"/>
            <a:ext cx="3163824" cy="2167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7D2E8"/>
                </a:solidFill>
                <a:latin typeface="Aptos"/>
              </a:rPr>
              <a:t>Bất biến:</a:t>
            </a:r>
            <a:br/>
            <a:r>
              <a:rPr sz="1400" b="0">
                <a:solidFill>
                  <a:srgbClr val="C7D2E8"/>
                </a:solidFill>
                <a:latin typeface="Aptos"/>
              </a:rPr>
              <a:t>1 ≤ quantity ≤ stock</a:t>
            </a:r>
            <a:br/>
            <a:br/>
            <a:r>
              <a:rPr sz="1400" b="0">
                <a:solidFill>
                  <a:srgbClr val="C7D2E8"/>
                </a:solidFill>
                <a:latin typeface="Aptos"/>
              </a:rPr>
              <a:t>Cộng dồn khi sách đã có trong giỏ; từ chối số âm, số 0 hoặc vượt giới hạn.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468880"/>
            <a:ext cx="3529584" cy="3154680"/>
          </a:xfrm>
          <a:prstGeom prst="roundRect">
            <a:avLst/>
          </a:prstGeom>
          <a:solidFill>
            <a:srgbClr val="111C44"/>
          </a:solidFill>
          <a:ln>
            <a:solidFill>
              <a:srgbClr val="27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07992" y="2651760"/>
            <a:ext cx="475488" cy="10972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2907792"/>
            <a:ext cx="31638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02  Khuyến mãi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337560"/>
            <a:ext cx="3163824" cy="2167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7D2E8"/>
                </a:solidFill>
                <a:latin typeface="Aptos"/>
              </a:rPr>
              <a:t>Mã tồn tại</a:t>
            </a:r>
            <a:br/>
            <a:r>
              <a:rPr sz="1400" b="0">
                <a:solidFill>
                  <a:srgbClr val="C7D2E8"/>
                </a:solidFill>
                <a:latin typeface="Aptos"/>
              </a:rPr>
              <a:t>→ đang kích hoạt</a:t>
            </a:r>
            <a:br/>
            <a:r>
              <a:rPr sz="1400" b="0">
                <a:solidFill>
                  <a:srgbClr val="C7D2E8"/>
                </a:solidFill>
                <a:latin typeface="Aptos"/>
              </a:rPr>
              <a:t>→ còn hạn</a:t>
            </a:r>
            <a:br/>
            <a:r>
              <a:rPr sz="1400" b="0">
                <a:solidFill>
                  <a:srgbClr val="C7D2E8"/>
                </a:solidFill>
                <a:latin typeface="Aptos"/>
              </a:rPr>
              <a:t>→ đạt giá trị tối thiểu</a:t>
            </a:r>
            <a:br/>
            <a:r>
              <a:rPr sz="1400" b="0">
                <a:solidFill>
                  <a:srgbClr val="C7D2E8"/>
                </a:solidFill>
                <a:latin typeface="Aptos"/>
              </a:rPr>
              <a:t>→ tính đúng % hoặc số tiền.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468880"/>
            <a:ext cx="3529584" cy="3154680"/>
          </a:xfrm>
          <a:prstGeom prst="roundRect">
            <a:avLst/>
          </a:prstGeom>
          <a:solidFill>
            <a:srgbClr val="111C44"/>
          </a:solidFill>
          <a:ln>
            <a:solidFill>
              <a:srgbClr val="27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2651760"/>
            <a:ext cx="475488" cy="10972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907792"/>
            <a:ext cx="31638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03  Trạng thái đơn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337560"/>
            <a:ext cx="3163824" cy="2167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7D2E8"/>
                </a:solidFill>
                <a:latin typeface="Aptos"/>
              </a:rPr>
              <a:t>Chờ xác nhận → Đang xử lý</a:t>
            </a:r>
            <a:br/>
            <a:r>
              <a:rPr sz="1400" b="0">
                <a:solidFill>
                  <a:srgbClr val="C7D2E8"/>
                </a:solidFill>
                <a:latin typeface="Aptos"/>
              </a:rPr>
              <a:t>→ Đang giao → Hoàn thành</a:t>
            </a:r>
            <a:br/>
            <a:br/>
            <a:r>
              <a:rPr sz="1400" b="0">
                <a:solidFill>
                  <a:srgbClr val="C7D2E8"/>
                </a:solidFill>
                <a:latin typeface="Aptos"/>
              </a:rPr>
              <a:t>Chỉ cho chuyển tiếp hợp lệ; mọi thay đổi được ghi vào lịch sử.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C2D9"/>
                </a:solidFill>
                <a:latin typeface="Aptos"/>
              </a:rPr>
              <a:t>BOOKVERSE  •  ĐỒ ÁN THIẾT KẾ WEBSITE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C2D9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1280160"/>
            <a:ext cx="3840480" cy="384048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663440"/>
            <a:ext cx="3474720" cy="34747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420624" cy="42062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BV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5661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42F"/>
                </a:solidFill>
                <a:latin typeface="Aptos"/>
              </a:rPr>
              <a:t>BOOKVERSE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3268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28D9"/>
                </a:solidFill>
                <a:latin typeface="Aptos"/>
              </a:rPr>
              <a:t>08 — PHÂN QUYỀN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ptos Display"/>
              </a:rPr>
              <a:t>Ẩn đúng giao diện, chặn đúng tuyến truy cập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Kiểm tra session khi tải trang và kiểm tra role trước khi mở Admin.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6032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65960" y="2761488"/>
            <a:ext cx="731520" cy="731520"/>
          </a:xfrm>
          <a:prstGeom prst="ellips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276148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3931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Aptos"/>
              </a:rPr>
              <a:t>CHƯA ĐĂNG NHẬP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233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Aptos"/>
              </a:rPr>
              <a:t>Trang công khai</a:t>
            </a:r>
            <a:br/>
            <a:r>
              <a:rPr sz="1150" b="0">
                <a:solidFill>
                  <a:srgbClr val="64748B"/>
                </a:solidFill>
                <a:latin typeface="Aptos"/>
              </a:rPr>
              <a:t>Đăng nhập để checkout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07992" y="256032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88152" y="2761488"/>
            <a:ext cx="731520" cy="73152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88152" y="276148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363931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Aptos"/>
              </a:rPr>
              <a:t>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40233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Aptos"/>
              </a:rPr>
              <a:t>Mua sách</a:t>
            </a:r>
            <a:br/>
            <a:r>
              <a:rPr sz="1150" b="0">
                <a:solidFill>
                  <a:srgbClr val="64748B"/>
                </a:solidFill>
                <a:latin typeface="Aptos"/>
              </a:rPr>
              <a:t>Tài khoản • đơn hàng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0183" y="256032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10344" y="2761488"/>
            <a:ext cx="731520" cy="7315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0344" y="276148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142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8784" y="363931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Aptos"/>
              </a:rP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504" y="40233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Aptos"/>
              </a:rPr>
              <a:t>Toàn bộ dashboard</a:t>
            </a:r>
            <a:br/>
            <a:r>
              <a:rPr sz="1150" b="0">
                <a:solidFill>
                  <a:srgbClr val="64748B"/>
                </a:solidFill>
                <a:latin typeface="Aptos"/>
              </a:rPr>
              <a:t>CRUD • reports • settings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8992" y="5029200"/>
            <a:ext cx="10012680" cy="804672"/>
          </a:xfrm>
          <a:prstGeom prst="roundRect">
            <a:avLst/>
          </a:prstGeom>
          <a:solidFill>
            <a:srgbClr val="FFF7E6"/>
          </a:solidFill>
          <a:ln>
            <a:solidFill>
              <a:srgbClr val="F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35024" y="5239512"/>
            <a:ext cx="1572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2400E"/>
                </a:solidFill>
                <a:latin typeface="Aptos"/>
              </a:rPr>
              <a:t>MINH BẠCH BẢO MẬT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5212080"/>
            <a:ext cx="7818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C4A03"/>
                </a:solidFill>
                <a:latin typeface="Aptos"/>
              </a:rPr>
              <a:t>Phân quyền phía client chỉ phục vụ học tập; hệ thống thật phải xác thực và kiểm quyền ở server.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4748B"/>
                </a:solidFill>
                <a:latin typeface="Aptos"/>
              </a:rPr>
              <a:t>BOOKVERSE  •  ĐỒ ÁN THIẾT KẾ WEBSITE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1280160"/>
            <a:ext cx="3840480" cy="384048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663440"/>
            <a:ext cx="3474720" cy="34747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420624" cy="42062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BV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5661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BOOKVERSE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3268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B5CF6"/>
                </a:solidFill>
                <a:latin typeface="Aptos"/>
              </a:rPr>
              <a:t>09 — UI/UX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 Display"/>
              </a:rPr>
              <a:t>Giao diện cao cấp nhưng vẫn ưu tiên khả năng sử dụng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8C2D9"/>
                </a:solidFill>
                <a:latin typeface="Aptos"/>
              </a:rPr>
              <a:t>Ảnh chụp trực tiếp từ trang danh sách sách của BOOKVERSE.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350008"/>
            <a:ext cx="73152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2D3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rop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468880"/>
            <a:ext cx="7077456" cy="337413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83879" y="2359152"/>
            <a:ext cx="3410712" cy="1024128"/>
          </a:xfrm>
          <a:prstGeom prst="roundRect">
            <a:avLst/>
          </a:prstGeom>
          <a:solidFill>
            <a:srgbClr val="111C44"/>
          </a:solidFill>
          <a:ln>
            <a:solidFill>
              <a:srgbClr val="27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66759" y="2542032"/>
            <a:ext cx="475488" cy="10972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2798064"/>
            <a:ext cx="30449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Hiệu ứng 3D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3227832"/>
            <a:ext cx="3044952" cy="36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7D2E8"/>
                </a:solidFill>
                <a:latin typeface="Aptos"/>
              </a:rPr>
              <a:t>perspective • depth • highlight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3575304"/>
            <a:ext cx="3410712" cy="1024128"/>
          </a:xfrm>
          <a:prstGeom prst="roundRect">
            <a:avLst/>
          </a:prstGeom>
          <a:solidFill>
            <a:srgbClr val="111C44"/>
          </a:solidFill>
          <a:ln>
            <a:solidFill>
              <a:srgbClr val="27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6759" y="3758184"/>
            <a:ext cx="475488" cy="109728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4014216"/>
            <a:ext cx="30449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Responsive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4443984"/>
            <a:ext cx="3044952" cy="36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7D2E8"/>
                </a:solidFill>
                <a:latin typeface="Aptos"/>
              </a:rPr>
              <a:t>Desktop • tablet • mobile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791456"/>
            <a:ext cx="3410712" cy="1024128"/>
          </a:xfrm>
          <a:prstGeom prst="roundRect">
            <a:avLst/>
          </a:prstGeom>
          <a:solidFill>
            <a:srgbClr val="111C44"/>
          </a:solidFill>
          <a:ln>
            <a:solidFill>
              <a:srgbClr val="27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66759" y="4974336"/>
            <a:ext cx="475488" cy="10972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5230368"/>
            <a:ext cx="30449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Tiếp cận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5660136"/>
            <a:ext cx="3044952" cy="36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7D2E8"/>
                </a:solidFill>
                <a:latin typeface="Aptos"/>
              </a:rPr>
              <a:t>focus-visible • alt • reduced-motion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C2D9"/>
                </a:solidFill>
                <a:latin typeface="Aptos"/>
              </a:rPr>
              <a:t>BOOKVERSE  •  ĐỒ ÁN THIẾT KẾ WEBSITE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C2D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1280160"/>
            <a:ext cx="3840480" cy="384048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663440"/>
            <a:ext cx="3474720" cy="34747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420624" cy="42062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BV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5661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42F"/>
                </a:solidFill>
                <a:latin typeface="Aptos"/>
              </a:rPr>
              <a:t>BOOKVERSE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3268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28D9"/>
                </a:solidFill>
                <a:latin typeface="Aptos"/>
              </a:rPr>
              <a:t>10 — PROMPT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ptos Display"/>
              </a:rPr>
              <a:t>Điều khiển AI bằng tiêu chí nghiệm thu, không bằng yêu cầu mơ hồ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Quy trình được lặp lại cho từng nhóm logic khó.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" y="2423160"/>
            <a:ext cx="1600200" cy="1051560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265176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990088"/>
            <a:ext cx="16002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9EFFF"/>
                </a:solidFill>
                <a:latin typeface="Aptos"/>
              </a:rPr>
              <a:t>Bối cảnh</a:t>
            </a:r>
          </a:p>
        </p:txBody>
      </p:sp>
      <p:sp>
        <p:nvSpPr>
          <p:cNvPr id="13" name="Chevron 12"/>
          <p:cNvSpPr/>
          <p:nvPr/>
        </p:nvSpPr>
        <p:spPr>
          <a:xfrm>
            <a:off x="2194560" y="2788920"/>
            <a:ext cx="237744" cy="219456"/>
          </a:xfrm>
          <a:prstGeom prst="chevron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78024" y="2423160"/>
            <a:ext cx="1600200" cy="105156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78024" y="265176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8024" y="2990088"/>
            <a:ext cx="16002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9EFFF"/>
                </a:solidFill>
                <a:latin typeface="Aptos"/>
              </a:rPr>
              <a:t>Mục tiêu</a:t>
            </a:r>
          </a:p>
        </p:txBody>
      </p:sp>
      <p:sp>
        <p:nvSpPr>
          <p:cNvPr id="17" name="Chevron 16"/>
          <p:cNvSpPr/>
          <p:nvPr/>
        </p:nvSpPr>
        <p:spPr>
          <a:xfrm>
            <a:off x="4114800" y="2788920"/>
            <a:ext cx="237744" cy="219456"/>
          </a:xfrm>
          <a:prstGeom prst="chevron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98264" y="2423160"/>
            <a:ext cx="1600200" cy="105156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8264" y="265176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264" y="2990088"/>
            <a:ext cx="16002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9EFFF"/>
                </a:solidFill>
                <a:latin typeface="Aptos"/>
              </a:rPr>
              <a:t>Ràng buộc</a:t>
            </a:r>
          </a:p>
        </p:txBody>
      </p:sp>
      <p:sp>
        <p:nvSpPr>
          <p:cNvPr id="21" name="Chevron 20"/>
          <p:cNvSpPr/>
          <p:nvPr/>
        </p:nvSpPr>
        <p:spPr>
          <a:xfrm>
            <a:off x="6035040" y="2788920"/>
            <a:ext cx="237744" cy="219456"/>
          </a:xfrm>
          <a:prstGeom prst="chevron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18504" y="2423160"/>
            <a:ext cx="1600200" cy="105156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265176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8142F"/>
                </a:solidFill>
                <a:latin typeface="Aptos"/>
              </a:rPr>
              <a:t>ACCEPTANCE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2990088"/>
            <a:ext cx="16002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8142F"/>
                </a:solidFill>
                <a:latin typeface="Aptos"/>
              </a:rPr>
              <a:t>Nghiệm thu</a:t>
            </a:r>
          </a:p>
        </p:txBody>
      </p:sp>
      <p:sp>
        <p:nvSpPr>
          <p:cNvPr id="25" name="Chevron 24"/>
          <p:cNvSpPr/>
          <p:nvPr/>
        </p:nvSpPr>
        <p:spPr>
          <a:xfrm>
            <a:off x="7955280" y="2788920"/>
            <a:ext cx="237744" cy="219456"/>
          </a:xfrm>
          <a:prstGeom prst="chevron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38744" y="2423160"/>
            <a:ext cx="1600200" cy="10515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8744" y="265176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2990088"/>
            <a:ext cx="16002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9EFFF"/>
                </a:solidFill>
                <a:latin typeface="Aptos"/>
              </a:rPr>
              <a:t>Kiểm thử</a:t>
            </a:r>
          </a:p>
        </p:txBody>
      </p:sp>
      <p:sp>
        <p:nvSpPr>
          <p:cNvPr id="29" name="Chevron 28"/>
          <p:cNvSpPr/>
          <p:nvPr/>
        </p:nvSpPr>
        <p:spPr>
          <a:xfrm>
            <a:off x="9875520" y="2788920"/>
            <a:ext cx="237744" cy="219456"/>
          </a:xfrm>
          <a:prstGeom prst="chevron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58984" y="2423160"/>
            <a:ext cx="1600200" cy="1051560"/>
          </a:xfrm>
          <a:prstGeom prst="roundRect">
            <a:avLst/>
          </a:prstGeom>
          <a:solidFill>
            <a:srgbClr val="08142F"/>
          </a:solidFill>
          <a:ln>
            <a:solidFill>
              <a:srgbClr val="081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8984" y="265176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REFINE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58984" y="2990088"/>
            <a:ext cx="16002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9EFFF"/>
                </a:solidFill>
                <a:latin typeface="Aptos"/>
              </a:rPr>
              <a:t>Tinh chỉnh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" y="3977639"/>
            <a:ext cx="10661904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1" y="424281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D28D9"/>
                </a:solidFill>
                <a:latin typeface="Aptos"/>
              </a:rPr>
              <a:t>PROMPT LOGIC TIÊU BIỂU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" y="4590288"/>
            <a:ext cx="100126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Aptos"/>
              </a:rPr>
              <a:t>“Triển khai giỏ hàng bằng JavaScript và localStorage. Không cho số lượng nhỏ hơn 1 hoặc vượt tồn kho; tổng tiền cập nhật sau mọi thao tác; dữ liệu phải còn sau khi tải lại.”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1" y="5266944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Aptos"/>
              </a:rPr>
              <a:t>→ Prompt xác định đầu vào, bất biến, trạng thái và cách kiểm chứng kết quả.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4748B"/>
                </a:solidFill>
                <a:latin typeface="Aptos"/>
              </a:rPr>
              <a:t>BOOKVERSE  •  ĐỒ ÁN THIẾT KẾ WEBSITE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1280160"/>
            <a:ext cx="3840480" cy="384048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663440"/>
            <a:ext cx="3474720" cy="34747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420624" cy="42062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BV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5661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BOOKVERSE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3268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B5CF6"/>
                </a:solidFill>
                <a:latin typeface="Aptos"/>
              </a:rPr>
              <a:t>11 — KIỂM THỬ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 Display"/>
              </a:rPr>
              <a:t>Không chỉ kiểm tra luồng đúng — còn kiểm tra trường hợp biên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8C2D9"/>
                </a:solidFill>
                <a:latin typeface="Aptos"/>
              </a:rPr>
              <a:t>Mỗi lỗi đều được truy vết theo hiện tượng → bằng chứng → nguyên nhân → sửa → kiểm thử lại.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23160"/>
            <a:ext cx="5285232" cy="621792"/>
          </a:xfrm>
          <a:prstGeom prst="roundRect">
            <a:avLst/>
          </a:prstGeom>
          <a:solidFill>
            <a:srgbClr val="111C44"/>
          </a:solidFill>
          <a:ln>
            <a:solidFill>
              <a:srgbClr val="2A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2560320"/>
            <a:ext cx="347472" cy="347472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420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60320"/>
            <a:ext cx="23957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ptos"/>
              </a:rPr>
              <a:t>Sai mật khẩu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7" y="256946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B8C7E0"/>
                </a:solidFill>
                <a:latin typeface="Aptos"/>
              </a:rPr>
              <a:t>Chặn đăng nhập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2423160"/>
            <a:ext cx="5285232" cy="621792"/>
          </a:xfrm>
          <a:prstGeom prst="roundRect">
            <a:avLst/>
          </a:prstGeom>
          <a:solidFill>
            <a:srgbClr val="111C44"/>
          </a:solidFill>
          <a:ln>
            <a:solidFill>
              <a:srgbClr val="2A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82512" y="2560320"/>
            <a:ext cx="347472" cy="347472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5420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7999" y="2560320"/>
            <a:ext cx="23957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ptos"/>
              </a:rPr>
              <a:t>Số lượng &gt; tồn kho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256946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B8C7E0"/>
                </a:solidFill>
                <a:latin typeface="Aptos"/>
              </a:rPr>
              <a:t>Từ chối cập nhật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46120"/>
            <a:ext cx="5285232" cy="621792"/>
          </a:xfrm>
          <a:prstGeom prst="roundRect">
            <a:avLst/>
          </a:prstGeom>
          <a:solidFill>
            <a:srgbClr val="111C44"/>
          </a:solidFill>
          <a:ln>
            <a:solidFill>
              <a:srgbClr val="2A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2" y="3383279"/>
            <a:ext cx="347472" cy="347472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364991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383279"/>
            <a:ext cx="23957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ptos"/>
              </a:rPr>
              <a:t>ID sách không tồn tại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7" y="339242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B8C7E0"/>
                </a:solidFill>
                <a:latin typeface="Aptos"/>
              </a:rPr>
              <a:t>Trạng thái 404 nội dung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7" y="3246120"/>
            <a:ext cx="5285232" cy="621792"/>
          </a:xfrm>
          <a:prstGeom prst="roundRect">
            <a:avLst/>
          </a:prstGeom>
          <a:solidFill>
            <a:srgbClr val="111C44"/>
          </a:solidFill>
          <a:ln>
            <a:solidFill>
              <a:srgbClr val="2A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82512" y="3383279"/>
            <a:ext cx="347472" cy="347472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3364991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7999" y="3383279"/>
            <a:ext cx="23957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ptos"/>
              </a:rPr>
              <a:t>Customer mở /admin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8" y="339242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B8C7E0"/>
                </a:solidFill>
                <a:latin typeface="Aptos"/>
              </a:rPr>
              <a:t>Chuyển về đăng nhập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069080"/>
            <a:ext cx="5285232" cy="621792"/>
          </a:xfrm>
          <a:prstGeom prst="roundRect">
            <a:avLst/>
          </a:prstGeom>
          <a:solidFill>
            <a:srgbClr val="111C44"/>
          </a:solidFill>
          <a:ln>
            <a:solidFill>
              <a:srgbClr val="2A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4672" y="4206240"/>
            <a:ext cx="347472" cy="347472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1879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206240"/>
            <a:ext cx="23957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ptos"/>
              </a:rPr>
              <a:t>Mã hết hạn / chưa đạt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47287" y="421538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B8C7E0"/>
                </a:solidFill>
                <a:latin typeface="Aptos"/>
              </a:rPr>
              <a:t>Không giảm giá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7" y="4069080"/>
            <a:ext cx="5285232" cy="621792"/>
          </a:xfrm>
          <a:prstGeom prst="roundRect">
            <a:avLst/>
          </a:prstGeom>
          <a:solidFill>
            <a:srgbClr val="111C44"/>
          </a:solidFill>
          <a:ln>
            <a:solidFill>
              <a:srgbClr val="2A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82512" y="4206240"/>
            <a:ext cx="347472" cy="347472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41879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7999" y="4206240"/>
            <a:ext cx="23957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ptos"/>
              </a:rPr>
              <a:t>Reload trình duyệt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5128" y="421538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B8C7E0"/>
                </a:solidFill>
                <a:latin typeface="Aptos"/>
              </a:rPr>
              <a:t>Dữ liệu vẫn còn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892040"/>
            <a:ext cx="5285232" cy="621792"/>
          </a:xfrm>
          <a:prstGeom prst="roundRect">
            <a:avLst/>
          </a:prstGeom>
          <a:solidFill>
            <a:srgbClr val="111C44"/>
          </a:solidFill>
          <a:ln>
            <a:solidFill>
              <a:srgbClr val="2A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04672" y="5029200"/>
            <a:ext cx="347472" cy="347472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501091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5029200"/>
            <a:ext cx="23957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ptos"/>
              </a:rPr>
              <a:t>Email nhận tin bị trùng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47287" y="503834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B8C7E0"/>
                </a:solidFill>
                <a:latin typeface="Aptos"/>
              </a:rPr>
              <a:t>Không tạo bản ghi trùng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36207" y="4892040"/>
            <a:ext cx="5285232" cy="621792"/>
          </a:xfrm>
          <a:prstGeom prst="roundRect">
            <a:avLst/>
          </a:prstGeom>
          <a:solidFill>
            <a:srgbClr val="111C44"/>
          </a:solidFill>
          <a:ln>
            <a:solidFill>
              <a:srgbClr val="2A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382512" y="5029200"/>
            <a:ext cx="347472" cy="347472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2512" y="501091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7999" y="5029200"/>
            <a:ext cx="23957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ptos"/>
              </a:rPr>
              <a:t>Chuyển sai trạng thái đơn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25128" y="503834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B8C7E0"/>
                </a:solidFill>
                <a:latin typeface="Aptos"/>
              </a:rPr>
              <a:t>Bị từ chối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65960" y="5815584"/>
            <a:ext cx="8257031" cy="384048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0" y="5916168"/>
            <a:ext cx="79918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Aptos"/>
              </a:rPr>
              <a:t>Kết quả mong đợi được định nghĩa trước khi sửa — tránh “sửa theo cảm giác”.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C2D9"/>
                </a:solidFill>
                <a:latin typeface="Aptos"/>
              </a:rPr>
              <a:t>BOOKVERSE  •  ĐỒ ÁN THIẾT KẾ WEBSITE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C2D9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1280160"/>
            <a:ext cx="3840480" cy="384048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663440"/>
            <a:ext cx="3474720" cy="34747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420624" cy="42062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BV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5661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42F"/>
                </a:solidFill>
                <a:latin typeface="Aptos"/>
              </a:rPr>
              <a:t>BOOKVERSE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3268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28D9"/>
                </a:solidFill>
                <a:latin typeface="Aptos"/>
              </a:rPr>
              <a:t>12 — KỊCH BẢN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827"/>
                </a:solidFill>
                <a:latin typeface="Aptos Display"/>
              </a:rPr>
              <a:t>Một hành trình xuyên suốt từ người mua đến quản trị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Demo tạo ra dữ liệu thật rồi dùng chính dữ liệu đó để chứng minh sự đồng bộ.</a:t>
            </a:r>
          </a:p>
        </p:txBody>
      </p:sp>
      <p:sp>
        <p:nvSpPr>
          <p:cNvPr id="10" name="Oval 9"/>
          <p:cNvSpPr/>
          <p:nvPr/>
        </p:nvSpPr>
        <p:spPr>
          <a:xfrm>
            <a:off x="841247" y="2606040"/>
            <a:ext cx="621792" cy="621792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606040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401568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Aptos"/>
              </a:rPr>
              <a:t>Tìm &amp; lọc sách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90472" y="2880360"/>
            <a:ext cx="493776" cy="5486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76856" y="2606040"/>
            <a:ext cx="621792" cy="621792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76856" y="2606040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401568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Aptos"/>
              </a:rPr>
              <a:t>Xem chi tiết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880360"/>
            <a:ext cx="493776" cy="5486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12464" y="2606040"/>
            <a:ext cx="621792" cy="621792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2464" y="2606040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3401568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Aptos"/>
              </a:rPr>
              <a:t>Thêm giỏ hàng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1688" y="2880360"/>
            <a:ext cx="493776" cy="5486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48072" y="2606040"/>
            <a:ext cx="621792" cy="621792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48072" y="2606040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7176" y="3401568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Aptos"/>
              </a:rPr>
              <a:t>Áp mã BOOK10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97296" y="2880360"/>
            <a:ext cx="493776" cy="5486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0" y="2606040"/>
            <a:ext cx="621792" cy="62179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606040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142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3401568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Aptos"/>
              </a:rPr>
              <a:t>Đăng nhập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32904" y="2880360"/>
            <a:ext cx="493776" cy="5486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9288" y="2606040"/>
            <a:ext cx="621792" cy="62179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9288" y="2606040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142F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08392" y="3401568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Aptos"/>
              </a:rPr>
              <a:t>Đặt hàng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68512" y="2880360"/>
            <a:ext cx="493776" cy="5486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54896" y="2606040"/>
            <a:ext cx="621792" cy="62179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54896" y="2606040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142F"/>
                </a:solidFill>
                <a:latin typeface="Aptos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401568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Aptos"/>
              </a:rPr>
              <a:t>Mở Admin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04120" y="2880360"/>
            <a:ext cx="493776" cy="5486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890504" y="2606040"/>
            <a:ext cx="621792" cy="62179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90504" y="2606040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142F"/>
                </a:solidFill>
                <a:latin typeface="Aptos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79608" y="3401568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Aptos"/>
              </a:rPr>
              <a:t>Xử lý đơn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389120"/>
            <a:ext cx="532180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96112" y="4626864"/>
            <a:ext cx="1024128" cy="32918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4626864"/>
            <a:ext cx="10241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CUSTOMER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48840" y="4590288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Aptos"/>
              </a:rPr>
              <a:t>customer@bookverse.demo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48840" y="497433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Book123!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4389120"/>
            <a:ext cx="532180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64808" y="4626864"/>
            <a:ext cx="841248" cy="329184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64808" y="4626864"/>
            <a:ext cx="8412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142F"/>
                </a:solidFill>
                <a:latin typeface="Aptos"/>
              </a:rPr>
              <a:t>ADMIN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62088" y="4590288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7"/>
                </a:solidFill>
                <a:latin typeface="Aptos"/>
              </a:rPr>
              <a:t>admin@bookverse.demo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62088" y="497433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Admin123!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4748B"/>
                </a:solidFill>
                <a:latin typeface="Aptos"/>
              </a:rPr>
              <a:t>BOOKVERSE  •  ĐỒ ÁN THIẾT KẾ WEBSITE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1280160"/>
            <a:ext cx="3840480" cy="3840480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663440"/>
            <a:ext cx="3474720" cy="34747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420624" cy="42062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BV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5661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BOOKVERSE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3268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B5CF6"/>
                </a:solidFill>
                <a:latin typeface="Aptos"/>
              </a:rPr>
              <a:t>13 — ĐÁNH GIÁ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 Display"/>
              </a:rPr>
              <a:t>Kết quả đạt được và giới hạn được nhìn nhận thẳng thắn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8C2D9"/>
                </a:solidFill>
                <a:latin typeface="Aptos"/>
              </a:rPr>
              <a:t>Một đồ án tốt không chỉ nêu thành công — còn phải hiểu rõ điều gì cần làm tiếp theo.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404872"/>
            <a:ext cx="3456432" cy="3246120"/>
          </a:xfrm>
          <a:prstGeom prst="roundRect">
            <a:avLst/>
          </a:prstGeom>
          <a:solidFill>
            <a:srgbClr val="111C44"/>
          </a:solidFill>
          <a:ln>
            <a:solidFill>
              <a:srgbClr val="2B3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" y="2688336"/>
            <a:ext cx="1572768" cy="329184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688336"/>
            <a:ext cx="15727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ĐÃ HOÀN THÀNH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300984"/>
            <a:ext cx="2788920" cy="1993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22C55E"/>
                </a:solidFill>
                <a:latin typeface="Aptos"/>
              </a:rPr>
              <a:t>●  </a:t>
            </a:r>
            <a:r>
              <a:rPr sz="1400">
                <a:solidFill>
                  <a:srgbClr val="D6E0F2"/>
                </a:solidFill>
                <a:latin typeface="Aptos"/>
              </a:rPr>
              <a:t>Đủ luồng khách hàng và Admin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22C55E"/>
                </a:solidFill>
                <a:latin typeface="Aptos"/>
              </a:rPr>
              <a:t>●  </a:t>
            </a:r>
            <a:r>
              <a:rPr sz="1400">
                <a:solidFill>
                  <a:srgbClr val="D6E0F2"/>
                </a:solidFill>
                <a:latin typeface="Aptos"/>
              </a:rPr>
              <a:t>Dữ liệu đồng bộ, không mất khi reload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22C55E"/>
                </a:solidFill>
                <a:latin typeface="Aptos"/>
              </a:rPr>
              <a:t>●  </a:t>
            </a:r>
            <a:r>
              <a:rPr sz="1400">
                <a:solidFill>
                  <a:srgbClr val="D6E0F2"/>
                </a:solidFill>
                <a:latin typeface="Aptos"/>
              </a:rPr>
              <a:t>Responsive và hiệu ứng 3D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22C55E"/>
                </a:solidFill>
                <a:latin typeface="Aptos"/>
              </a:rPr>
              <a:t>●  </a:t>
            </a:r>
            <a:r>
              <a:rPr sz="1400">
                <a:solidFill>
                  <a:srgbClr val="D6E0F2"/>
                </a:solidFill>
                <a:latin typeface="Aptos"/>
              </a:rPr>
              <a:t>Kiểm tra dữ liệu và trường hợp biên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2404872"/>
            <a:ext cx="3456432" cy="3246120"/>
          </a:xfrm>
          <a:prstGeom prst="roundRect">
            <a:avLst/>
          </a:prstGeom>
          <a:solidFill>
            <a:srgbClr val="111C44"/>
          </a:solidFill>
          <a:ln>
            <a:solidFill>
              <a:srgbClr val="2B3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45152" y="2688336"/>
            <a:ext cx="1115568" cy="329184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688336"/>
            <a:ext cx="11155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8142F"/>
                </a:solidFill>
                <a:latin typeface="Aptos"/>
              </a:rPr>
              <a:t>GIỚI HẠN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3300984"/>
            <a:ext cx="2770632" cy="1993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F59E0B"/>
                </a:solidFill>
                <a:latin typeface="Aptos"/>
              </a:rPr>
              <a:t>●  </a:t>
            </a:r>
            <a:r>
              <a:rPr sz="1400">
                <a:solidFill>
                  <a:srgbClr val="D6E0F2"/>
                </a:solidFill>
                <a:latin typeface="Aptos"/>
              </a:rPr>
              <a:t>Không có backend và database thật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F59E0B"/>
                </a:solidFill>
                <a:latin typeface="Aptos"/>
              </a:rPr>
              <a:t>●  </a:t>
            </a:r>
            <a:r>
              <a:rPr sz="1400">
                <a:solidFill>
                  <a:srgbClr val="D6E0F2"/>
                </a:solidFill>
                <a:latin typeface="Aptos"/>
              </a:rPr>
              <a:t>Client-side auth không bảo mật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F59E0B"/>
                </a:solidFill>
                <a:latin typeface="Aptos"/>
              </a:rPr>
              <a:t>●  </a:t>
            </a:r>
            <a:r>
              <a:rPr sz="1400">
                <a:solidFill>
                  <a:srgbClr val="D6E0F2"/>
                </a:solidFill>
                <a:latin typeface="Aptos"/>
              </a:rPr>
              <a:t>Không đồng bộ đa thiết bị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F59E0B"/>
                </a:solidFill>
                <a:latin typeface="Aptos"/>
              </a:rPr>
              <a:t>●  </a:t>
            </a:r>
            <a:r>
              <a:rPr sz="1400">
                <a:solidFill>
                  <a:srgbClr val="D6E0F2"/>
                </a:solidFill>
                <a:latin typeface="Aptos"/>
              </a:rPr>
              <a:t>Không thanh toán tiền thật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2404872"/>
            <a:ext cx="3456432" cy="3246120"/>
          </a:xfrm>
          <a:prstGeom prst="roundRect">
            <a:avLst/>
          </a:prstGeom>
          <a:solidFill>
            <a:srgbClr val="111C44"/>
          </a:solidFill>
          <a:ln>
            <a:solidFill>
              <a:srgbClr val="2B3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85048" y="2688336"/>
            <a:ext cx="1572768" cy="329184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2688336"/>
            <a:ext cx="15727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HƯỚNG PHÁT TRIỂN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3300984"/>
            <a:ext cx="2761488" cy="1993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8B5CF6"/>
                </a:solidFill>
                <a:latin typeface="Aptos"/>
              </a:rPr>
              <a:t>●  </a:t>
            </a:r>
            <a:r>
              <a:rPr sz="1400">
                <a:solidFill>
                  <a:srgbClr val="D6E0F2"/>
                </a:solidFill>
                <a:latin typeface="Aptos"/>
              </a:rPr>
              <a:t>REST API + MySQL/MongoDB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8B5CF6"/>
                </a:solidFill>
                <a:latin typeface="Aptos"/>
              </a:rPr>
              <a:t>●  </a:t>
            </a:r>
            <a:r>
              <a:rPr sz="1400">
                <a:solidFill>
                  <a:srgbClr val="D6E0F2"/>
                </a:solidFill>
                <a:latin typeface="Aptos"/>
              </a:rPr>
              <a:t>JWT/session và hash mật khẩu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8B5CF6"/>
                </a:solidFill>
                <a:latin typeface="Aptos"/>
              </a:rPr>
              <a:t>●  </a:t>
            </a:r>
            <a:r>
              <a:rPr sz="1400">
                <a:solidFill>
                  <a:srgbClr val="D6E0F2"/>
                </a:solidFill>
                <a:latin typeface="Aptos"/>
              </a:rPr>
              <a:t>Cloud storage cho ảnh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>
                <a:solidFill>
                  <a:srgbClr val="8B5CF6"/>
                </a:solidFill>
                <a:latin typeface="Aptos"/>
              </a:rPr>
              <a:t>●  </a:t>
            </a:r>
            <a:r>
              <a:rPr sz="1400">
                <a:solidFill>
                  <a:srgbClr val="D6E0F2"/>
                </a:solidFill>
                <a:latin typeface="Aptos"/>
              </a:rPr>
              <a:t>Thanh toán và analytics thực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C2D9"/>
                </a:solidFill>
                <a:latin typeface="Aptos"/>
              </a:rPr>
              <a:t>BOOKVERSE  •  ĐỒ ÁN THIẾT KẾ WEBSITE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C2D9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op_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8142F"/>
          </a:solidFill>
          <a:ln>
            <a:solidFill>
              <a:srgbClr val="081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420624" cy="420624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BV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5661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BOOKVERSE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5669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Aptos Display"/>
              </a:rPr>
              <a:t>BOOKVERSE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31720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9E0B"/>
                </a:solidFill>
                <a:latin typeface="Aptos"/>
              </a:rPr>
              <a:t>Không chỉ là một giao diện đẹp.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9504"/>
            <a:ext cx="5532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Đây là một hệ thống front-end có cấu trúc,</a:t>
            </a:r>
            <a:br/>
            <a:r>
              <a:rPr sz="2000" b="1">
                <a:solidFill>
                  <a:srgbClr val="FFFFFF"/>
                </a:solidFill>
                <a:latin typeface="Aptos"/>
              </a:rPr>
              <a:t>quy tắc nghiệp vụ và khả năng kiểm chứng.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261104"/>
            <a:ext cx="3520440" cy="658368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261104"/>
            <a:ext cx="35204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CẢM ƠN THẦY ĐÃ LẮNG NGHE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846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2DCEF"/>
                </a:solidFill>
                <a:latin typeface="Aptos"/>
              </a:rPr>
              <a:t>Nhóm sẵn sàng demo và trả lời câu hỏi.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516636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